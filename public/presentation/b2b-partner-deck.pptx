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flyingwonders.net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ACCENT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92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flyingwonders.net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TA">
    <p:bg>
      <p:bgPr>
        <a:solidFill>
          <a:srgbClr val="D4A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flyingwonders.net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FLYING WONDERS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4747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Premier Singapore DMC &amp; B2B Travel Agent Partner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40233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Complete Wholesale Travel Technology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54864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🇸🇬 Singapore • 🇮🇳 Bangalore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76072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B2B Travel Agent's Daily Struggle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2540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Waiting 24-48 hours for DMC quotations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91440" cy="548640"/>
          </a:xfrm>
          <a:prstGeom prst="rect">
            <a:avLst/>
          </a:prstGeom>
          <a:solidFill>
            <a:srgbClr val="B83A4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2540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OTA commissions capped at 8-12% — thin margins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91440" cy="548640"/>
          </a:xfrm>
          <a:prstGeom prst="rect">
            <a:avLst/>
          </a:prstGeom>
          <a:solidFill>
            <a:srgbClr val="B83A4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2540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Client sees OTA brand, not YOUR brand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91440" cy="548640"/>
          </a:xfrm>
          <a:prstGeom prst="rect">
            <a:avLst/>
          </a:prstGeom>
          <a:solidFill>
            <a:srgbClr val="B83A4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2540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2-4% forex fees on every international transaction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91440" cy="548640"/>
          </a:xfrm>
          <a:prstGeom prst="rect">
            <a:avLst/>
          </a:prstGeom>
          <a:solidFill>
            <a:srgbClr val="B83A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0" tIns="25400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No real-time attraction availability or instant tickets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5120640"/>
            <a:ext cx="91440" cy="548640"/>
          </a:xfrm>
          <a:prstGeom prst="rect">
            <a:avLst/>
          </a:prstGeom>
          <a:solidFill>
            <a:srgbClr val="B83A4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Where Does Flying Wonders Fit?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73152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E2E8F0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Traditional DMC</a:t>
                      </a:r>
                      <a:endParaRPr lang="en-US" sz="24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dirty="0">
                          <a:solidFill>
                            <a:srgbClr val="E2E8F0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Online OTAs</a:t>
                      </a:r>
                      <a:endParaRPr lang="en-US" sz="24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0F172A"/>
                          </a:solidFill>
                          <a:latin typeface="Playfair Display" pitchFamily="34" charset="0"/>
                          <a:ea typeface="Playfair Display" pitchFamily="34" charset="-122"/>
                          <a:cs typeface="Playfair Display" pitchFamily="34" charset="-120"/>
                        </a:rPr>
                        <a:t>Flying Wonders</a:t>
                      </a:r>
                      <a:endParaRPr lang="en-US" sz="2400" dirty="0">
                        <a:latin typeface="Playfair Display" charset="0"/>
                        <a:ea typeface="Playfair Display" charset="0"/>
                        <a:cs typeface="Playfair Display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F3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3657600"/>
        </p:xfrm>
        <a:graphic>
          <a:graphicData uri="http://schemas.openxmlformats.org/drawingml/2006/table">
            <a:tbl>
              <a:tblPr/>
              <a:tblGrid>
                <a:gridCol w="3758184"/>
                <a:gridCol w="3758184"/>
                <a:gridCol w="3758184"/>
              </a:tblGrid>
              <a:tr h="3657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❌ Slow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❌ Manual emails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❌ No tech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✅ Good ground ops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✅ Fast booking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❌ Zero branding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❌ Thin margins</a:t>
                      </a:r>
                      <a:endParaRPr lang="en-US" sz="1800" dirty="0"/>
                    </a:p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E2E8F0"/>
                          </a:solidFill>
                        </a:rPr>
                        <a:t>❌ No customization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2E8F0"/>
                          </a:solidFill>
                        </a:rPr>
                        <a:t>✅ Instant quotes</a:t>
                      </a:r>
                      <a:endParaRPr lang="en-US" sz="2000" dirty="0"/>
                    </a:p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2E8F0"/>
                          </a:solidFill>
                        </a:rPr>
                        <a:t>✅ Your brand</a:t>
                      </a:r>
                      <a:endParaRPr lang="en-US" sz="2000" dirty="0"/>
                    </a:p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2E8F0"/>
                          </a:solidFill>
                        </a:rPr>
                        <a:t>✅ Unlimited markup</a:t>
                      </a:r>
                      <a:endParaRPr lang="en-US" sz="2000" dirty="0"/>
                    </a:p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2E8F0"/>
                          </a:solidFill>
                        </a:rPr>
                        <a:t>✅ Full ground ops</a:t>
                      </a:r>
                      <a:endParaRPr lang="en-US" sz="2000" dirty="0"/>
                    </a:p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2E8F0"/>
                          </a:solidFill>
                        </a:rPr>
                        <a:t>✅ Tech + Human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DMC. Two Countries. Zero Middlemen.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20+ years of operational excellence
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Dual Headquarters in SG &amp; IN
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Licensed ground operator
</a:t>
            </a:r>
            <a:endParaRPr lang="en-US" sz="2400" dirty="0"/>
          </a:p>
          <a:p>
            <a:pPr marL="342900" indent="-342900">
              <a:lnSpc>
                <a:spcPts val="40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Singapore, India, Malaysia specialist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1828800"/>
            <a:ext cx="22860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20+ Years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3657600"/>
            <a:ext cx="22860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100+ Attractions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1828800"/>
            <a:ext cx="22860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9+ Packages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0" y="3657600"/>
            <a:ext cx="22860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Countries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on Trust &amp; Transparency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200400" cy="1097280"/>
          </a:xfrm>
          <a:prstGeom prst="rect">
            <a:avLst>
              <a:gd name="adj" fmla="val 16667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GST Registered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389120" y="2286000"/>
            <a:ext cx="3200400" cy="1097280"/>
          </a:xfrm>
          <a:prstGeom prst="rect">
            <a:avLst>
              <a:gd name="adj" fmla="val 16667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Pvt Ltd Company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63840" y="2286000"/>
            <a:ext cx="3200400" cy="1097280"/>
          </a:xfrm>
          <a:prstGeom prst="rect">
            <a:avLst>
              <a:gd name="adj" fmla="val 16667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 Tour Operator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3200400" cy="1097280"/>
          </a:xfrm>
          <a:prstGeom prst="rect">
            <a:avLst>
              <a:gd name="adj" fmla="val 16667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PDPA/GDPR Compliant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0" y="4114800"/>
            <a:ext cx="3200400" cy="1097280"/>
          </a:xfrm>
          <a:prstGeom prst="rect">
            <a:avLst>
              <a:gd name="adj" fmla="val 16667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Insured Operations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0" y="4114800"/>
            <a:ext cx="3200400" cy="1097280"/>
          </a:xfrm>
          <a:prstGeom prst="rect">
            <a:avLst>
              <a:gd name="adj" fmla="val 16667"/>
            </a:avLst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Crisis Desk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Brand. Your Client. Our Execution.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your logo once — every proposal, PDF, and WhatsApp quote displays YOUR brand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Flying Wonders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1828800"/>
            <a:ext cx="4572000" cy="18288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AFTER: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BRAND HERE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White-label PDFs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Branded WhatsApp quotes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Your contact on vouchers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Client never sees FW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Set Your Own Margins. No Caps. No Limits.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45720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Package Net Cost: S$600/person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4572000" cy="73152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Your Markup: S$150/person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45720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Client Pays: S$750/person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 Pax × S$150 = S$600 YOUR PROFIT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0" y="1828800"/>
            <a:ext cx="4572000" cy="1188720"/>
          </a:xfrm>
          <a:prstGeom prst="rect">
            <a:avLst/>
          </a:prstGeom>
          <a:solidFill>
            <a:srgbClr val="B83A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OTA: 8-12% (S$48-72)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4572000" cy="1188720"/>
          </a:xfrm>
          <a:prstGeom prst="rect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FW Unlimited (S$150+)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Instant Attraction Tickets. Live Stock. Zero Wait.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 API • Real-time stock • 100+ attractions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Universal Studios SG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Remaining: 47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0" y="22860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Night Safari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Remaining: 128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2860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Gardens by the Bay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Available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0"/>
            <a:ext cx="265176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Cable Car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Dated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5029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Barcoded PDF e-vouchers delivered INSTANTLY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Pay in ₹ Rupees. Zero Forex. Zero Fees.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Build quote ➔ Client pays agent ➔ Agent pays FW via UPI ➔ FW issues vouchers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Supported: ICICI UPI QR, Google Pay, PhonePe, Paytm, Bank Transfer, Cashfree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Save ₹2,000-4,000 per booking vs credit card forex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India Convenience. Singapore Execution.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4572000" cy="731520"/>
          </a:xfrm>
          <a:prstGeom prst="rect">
            <a:avLst/>
          </a:prstGeom>
          <a:solidFill>
            <a:srgbClr val="B83A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🇮🇳 INDIA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457200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IST hours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Hindi/English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GST invoicing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UPI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0" y="1828800"/>
            <a:ext cx="4572000" cy="731520"/>
          </a:xfrm>
          <a:prstGeom prst="rect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🇸🇬 SINGAPORE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0" y="2560320"/>
            <a:ext cx="4572000" cy="201168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24/7 Operations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Licensed guides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Own fleet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Airport meet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Crisis desk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29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"Your clients get SG expertise. You get Indian convenience."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 Verticals. 6 Revenue Streams. 1 Partner.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Singapore Leisure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0" y="228600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Education Tours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0" y="228600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Corporate MICE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Study in SG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89120" y="411480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Travel Insurance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63840" y="4114800"/>
            <a:ext cx="3200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Karnataka Heritage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flyingwonders.net — Your Digital Storefront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URL: flyingwonders.net/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Cinematic hero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Itinerary of Wonders bento grid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Package carousel with live SGD/INR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WhatsApp widget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F4C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Tip: Share the homepage with clients — it sells Singapore for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 Ready-Made Package Tiers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60152" cy="4114800"/>
        </p:xfrm>
        <a:graphic>
          <a:graphicData uri="http://schemas.openxmlformats.org/drawingml/2006/table">
            <a:tbl>
              <a:tblPr/>
              <a:tblGrid>
                <a:gridCol w="4572000"/>
                <a:gridCol w="2743200"/>
                <a:gridCol w="30449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Package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Duration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E2E8F0"/>
                          </a:solidFill>
                        </a:rPr>
                        <a:t>From (SGD)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Exotic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4D3N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S$600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Explorer Classic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5D4N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S$850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Solo Private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4D3N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S$1000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Marvelous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5D4N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S$900+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Great Value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4D3N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S$550+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SG Classics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5D4N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S$725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SG Basics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5D4N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S$625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SG Premier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5D4N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S$985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Genting Cruise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5N6D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2E8F0"/>
                          </a:solidFill>
                        </a:rPr>
                        <a:t>S$1200+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566928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AF37"/>
                </a:solidFill>
              </a:rPr>
              <a:t>Note: All prices NET agent rates. Add your markup freely.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Every Package = A Complete Selling Tool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Day-by-day itinerary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Hotel tiers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Transfer types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Meal plans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Inclusions/exclusions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Dual currency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Booking button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Complete Singapore &amp; Malaysia Inventory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23774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Hotels (3★-5★)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474720" y="2743200"/>
            <a:ext cx="23774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Attractions (100+)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35040" y="2743200"/>
            <a:ext cx="23774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Dining (Indian/Halal/Jain)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95360" y="2743200"/>
            <a:ext cx="2377440" cy="18288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Tours &amp; Transport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B2B Command Center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URL: flyingwonders.net/agent-portal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Email OTP login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Agency branding upload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KPI dashboard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Proposal tracker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Package builder launch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Saved bookings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9,000-Line Quotation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Build. Brand. Price. Deliver. In 3 Minutes.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Day-by-day matrix | Hotel tiers | Vehicle allocation | Attraction pricing | Meal plans | Markup controls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</a:rPr>
              <a:t>EXPORT OPTIONS: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11274552" cy="1371600"/>
          </a:xfrm>
          <a:prstGeom prst="rect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White-Label PDF | WhatsApp Quote | Excel Export | UPI Payment Link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⏱️ The 3-Minute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0:00 Open builder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0:30 Select hotel/transfers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4904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1:00 Add attractions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9496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1:30 Add meals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2:00 Set markup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2:30 Review totals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2720" y="2743200"/>
            <a:ext cx="155448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3:00 Generate PDF 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50292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brand. Your price. Our execution.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Wholesale Attraction Tickets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Select attraction &amp; date ➔ See LIVE stock ➔ Checkout = instant voucher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Direct supplier API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Multi-SKU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Open-dated support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Real-time stock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Multi-Attraction Quotes Instantly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100+ searchable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Cart calculator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Live SGD➔INR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Area filtering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WhatsApp inquiry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Wholesale Rates in Seconds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Hotel rates | Airport transfers | Tour pricing | Inter-city transfers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2E8F0"/>
                </a:solidFill>
              </a:rPr>
              <a:t>No email required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Find New Business — Live Agent RFQs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Real-time WhatsApp inquiries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AI-categorized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Filter by destination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WhatsApp alerts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Respond directly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Network with Verified DMCs Worldwide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Verified agents across 7 regions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Self-service profiles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vCard QR</a:t>
            </a:r>
            <a:endParaRPr lang="en-US" sz="24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Shortlist export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12+ Free Tools for You &amp; Your Clients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SGAC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0" y="18288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MDAC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35040" y="18288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Air Suvidha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595360" y="18288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Border Cameras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Flight Radar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32004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Visa Checker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35040" y="32004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Currency Converter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0" y="32004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Meal Estimator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Age Calculator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45720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Packing List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0" y="45720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Travel News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95360" y="4572000"/>
            <a:ext cx="22860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GST Calculator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High-Margin Education Tour Vertical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Schools (STEM) | Colleges (NTU/SUTD) | MBA (NUS/SMU)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benefits: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1:10 chaperone ratio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Dietary management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Insurance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PDF brochures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Outsourced Corporate Travel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T1 Standard: INR 500/trip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T2 Full: $500-$1200/mo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T3 Strategic: $2000+/mo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India Inbound: Karnataka Heritage &amp; Nature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solidFill>
            <a:srgbClr val="B83A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HOHO Bus | Mysore Palace | Hampi UNESCO | Coorg | Ooty | Tirupati VIP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Add-On Revenue: Instant Travel Insurance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Dynamic calculator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Schengen-compliant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Multi-traveler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Instant issuance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Easy ₹500-2,000 add-on per booking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Why Agents Choose Flying Wonders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Flying Wonders vs Klook/Pelago vs MakeMyTrip vs Traditional DMC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AF37"/>
                </a:solidFill>
              </a:rPr>
              <a:t>FW stands out across 8 core features with gold standard service.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Can You Earn?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320040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Solo Agent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5 × ₹5K = ₹27,500/mo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480560" y="2286000"/>
            <a:ext cx="320040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Small Agency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20 × ₹5K = ₹1,25,000/mo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0" y="2286000"/>
            <a:ext cx="3200400" cy="2286000"/>
          </a:xfrm>
          <a:prstGeom prst="rect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Volume Partner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2E8F0"/>
                </a:solidFill>
              </a:rPr>
              <a:t>₹3-5 lakhs/mo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When to Sell Singapore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solidFill>
            <a:srgbClr val="B83A4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Peak (Dec, Jan, Jun, Jul)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172A"/>
                </a:solidFill>
              </a:rPr>
              <a:t>Shoulder (Mar, Apr, Sep, Oct)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solidFill>
            <a:srgbClr val="0F4C3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Value (Feb, May, Aug, Nov)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Step-by-Step: Booking a Package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1. Browse ➔ 2. Select ➔ 3. Customize ➔ 4. Fill form ➔ 5. Pay UPI ➔ 6. Receive vouchers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Step-by-Step: Wholesale E-Ticketing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Go to attractions-live ➔ Verify OTP ➔ Select attraction/date ➔ Choose qty ➔ Instant PDF voucher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4C3A"/>
                </a:solidFill>
              </a:rPr>
              <a:t>Total time: Under 60 seconds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Step-by-Step: Agent Onboarding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Sign up ➔ Upload logo ➔ Open builder ➔ Build itinerary ➔ Generate PDF ➔ Track bookings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1127455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Total setup: Under 5 minutes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 Earning Today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Sign Up ➔ 2. Upload Logo ➔ 3. Build Quote ➔ 4. Sell ➔ 5. Earn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Contact: SG +65 94722830 | IN +91 9886171251 | email | WhatsApp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</a:rPr>
              <a:t>Address: #74, 4th Cross, SBM Colony, BSK, Bangalore 560050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274552" cy="9144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Sign Up as B2B Partner | Schedule 1-on-1 Demo | Download PDF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YouTube | Instagram | Facebook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© 2026 Flying Wonders Pvt Ltd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0F172A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2026-09-08T03:45:45Z</dcterms:created>
  <dcterms:modified xsi:type="dcterms:W3CDTF">2026-09-08T03:45:45Z</dcterms:modified>
</cp:coreProperties>
</file>